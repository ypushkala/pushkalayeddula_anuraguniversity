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463040"/>
            <a:ext cx="10058400" cy="101727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5400" b="0" i="0">
                <a:solidFill>
                  <a:srgbClr val="1B1B19"/>
                </a:solidFill>
                <a:latin typeface="IBM Plex Serif"/>
              </a:rPr>
              <a:t>Prativimb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14600"/>
            <a:ext cx="1005840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400" b="0" i="1">
                <a:solidFill>
                  <a:srgbClr val="4A4843"/>
                </a:solidFill>
                <a:latin typeface="IBM Plex Serif"/>
              </a:rPr>
              <a:t>A patient twin that answers what if, not just what next.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3337560"/>
            <a:ext cx="10515600" cy="0"/>
          </a:xfrm>
          <a:prstGeom prst="line">
            <a:avLst/>
          </a:prstGeom>
          <a:ln w="12700">
            <a:solidFill>
              <a:srgbClr val="1B1B1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36118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4A4843"/>
                </a:solidFill>
                <a:latin typeface="IBM Plex Sans"/>
              </a:rPr>
              <a:t>Hybrid digital twin for Type 2 diabetes and cardiovascular risk, built for Indian patients.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690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6A675F"/>
                </a:solidFill>
                <a:latin typeface="IBM Plex Sans"/>
              </a:rPr>
              <a:t>Happiest Health hackathon. Digital Twin track, Phase 1: prototype and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983480"/>
            <a:ext cx="100584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500" b="0" i="0">
                <a:solidFill>
                  <a:srgbClr val="1B1B19"/>
                </a:solidFill>
                <a:latin typeface="IBM Plex Sans"/>
              </a:rPr>
              <a:t>&lt;TeamName&gt;, &lt;CollegeName&gt; / &lt;Incubator&gt;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3949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&lt;Member 1, role&gt;   &lt;Member 2, role&gt;   &lt;Member 3, role&gt;   &lt;Member 4, role&gt;   &lt;team email&gt;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Prativimb is Sanskrit for reflection. Patient data shown is synthetic; real data validation uses open access CGMacros.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WHY 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The problem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669280" cy="33832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India has about 101 million adults with diabetes and 136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million with prediabetes (ICMR-INDIAB, Lancet Diabetes &amp;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Endocrinology, 2023).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Most see a doctor every three months. Glucose, sleep and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heart rhythm change every five minutes.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CGMs and watches now record that stream, but they show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what already happened.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•  Risk scores say who is at risk. They do not say what to</a:t>
            </a:r>
          </a:p>
          <a:p>
            <a:pPr>
              <a:lnSpc>
                <a:spcPct val="135000"/>
              </a:lnSpc>
            </a:pPr>
            <a:r>
              <a:rPr sz="1600" b="0" i="0">
                <a:solidFill>
                  <a:srgbClr val="1B1B19"/>
                </a:solidFill>
                <a:latin typeface="IBM Plex Sans"/>
              </a:rPr>
              <a:t>   change today, or how sure they are.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949440" y="1645920"/>
            <a:ext cx="448056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949440" y="1783080"/>
            <a:ext cx="44805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What a clinician needs at the bedside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286000"/>
            <a:ext cx="4480560" cy="22517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Which patients will go out of range in the next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two hours?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Why, in words, not feature names?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What would help this patient: a walk, a different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   grain, an earlier dinner?</a:t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 b="0" i="0">
                <a:solidFill>
                  <a:srgbClr val="4A4843"/>
                </a:solidFill>
                <a:latin typeface="IBM Plex Sans"/>
              </a:rPr>
              <a:t>•  Who is drifting towards a cardiac event this week?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OUR ANGLE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Why a twin, and not another classifier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1051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Risk classifier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80960" y="181051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Prativimb twin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822960" y="2240280"/>
            <a:ext cx="1069848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822960" y="2313432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Question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313432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2313432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What happens next, and what if we change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something?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822960" y="279577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22960" y="286893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Learned from data 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86893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Physiology (ODE) plus a learned residual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298698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371850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Personal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3371850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Population average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3371850"/>
            <a:ext cx="3749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Parameters fitted to each patient's first</a:t>
            </a:r>
          </a:p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week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22960" y="385419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392734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Out of range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Unreliable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92734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Physics extrapolates plausibly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22960" y="435711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22960" y="443026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A score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443026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Calibrated interval with stated coverage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" y="4860036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22960" y="4933188"/>
            <a:ext cx="2926079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Reasons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Feature importances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680960" y="4933188"/>
            <a:ext cx="3749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mg/dL contributions, one plain sentence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22960" y="5362955"/>
            <a:ext cx="1069848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600" b="0" i="1">
                <a:solidFill>
                  <a:srgbClr val="1B1B19"/>
                </a:solidFill>
                <a:latin typeface="IBM Plex Serif"/>
              </a:rPr>
              <a:t>Prativimb is a reflection of the patient you can question.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Our approach in four ideas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1. Hybrid twin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103120"/>
            <a:ext cx="5029200" cy="9829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Bergman minimal model extended with meals, exercise, sleep debt,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circadian rhythm, night shifts and metformin. EHR sets the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prior, the first week of wearables fits 8 personal parameters,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LightGBM learns what the physics misses.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64592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2. Counterfactuals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210312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Re-simulate the next six hours after a walk, a millet swap, a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shifted dinner, a missed dose, more sleep or a night shift.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Shows peak and time above range for both.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3. Honest uncertainty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Conformalised quantile regression gives 90% intervals that reach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89.2% coverage at 60 min on unseen patients. Alerts fire only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when the lower bound crosses 180.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840480"/>
            <a:ext cx="5029200" cy="4000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800" b="0" i="0">
                <a:solidFill>
                  <a:srgbClr val="1B1B19"/>
                </a:solidFill>
                <a:latin typeface="IBM Plex Serif"/>
              </a:rPr>
              <a:t>4. India first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297680"/>
            <a:ext cx="502920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Rice, roti, idli and iftar meals with their absorption speeds;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Ramadan, Shivaratri, Ekadashi and Holi in the calendar; night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shift workers; cardiovascular risk at lower BMI.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Architecture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5</a:t>
            </a:r>
          </a:p>
        </p:txBody>
      </p:sp>
      <p:pic>
        <p:nvPicPr>
          <p:cNvPr id="6" name="Picture 5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8974885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Data: synthetic, Indian, reproducible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394960" cy="3794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200 fictional patients, 30 days each (14 Feb to 15 Mar 2026):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healthy, prediabetes and T2D; hypertension, dyslipidaemia,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family history.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EHR as FHIR R4 bundles: ICD-10, LOINC, ATC, TCF7L2, KCNQ1,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SLC30A8 and 9p21 markers, DPDP style consent.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Glucose from the UVA/Padova model with simglucose parameters and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Dexcom noise, adapted for T2D. HR every minute, sleep stages,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nightly HRV, steps.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Apple Health and Google Fit export formats, parsed back by our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adapters.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One command regenerates everything in about 20 seconds from seed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20260315.</a:t>
            </a:r>
          </a:p>
        </p:txBody>
      </p:sp>
      <p:pic>
        <p:nvPicPr>
          <p:cNvPr id="7" name="Picture 6" descr="04_twin_fatima_ift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554480"/>
            <a:ext cx="4195280" cy="4480560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583680" y="6126480"/>
            <a:ext cx="49377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Fatima (synthetic): Ramadan pattern in her glucose profile.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METHOD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Models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7335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Component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67335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00" b="0" i="0">
                <a:solidFill>
                  <a:srgbClr val="6A675F"/>
                </a:solidFill>
                <a:latin typeface="IBM Plex Sans"/>
              </a:rPr>
              <a:t>What it does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16712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24028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Twin 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2240280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dG/dt = -(SG + X)G + SG Gb H(t) + cf Ra(t) - eE E G, with insulin action, insulin, two gut compartments,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exercise and metformin states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340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280720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Calibration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2807208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MAP least squares on days 1 to 7 with EHR priors; about one second per patient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30098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37413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Residual model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374136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LightGBM on twin error at 30, 60, 90, 120 min from CGM history, meals, activity, sleep, adherence, EHR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386791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394106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Uncertainty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3941064"/>
            <a:ext cx="8138160" cy="5041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CQR intervals at 90%; the alert tier uses the lower bound of the 50% interval, chosen on calibration</a:t>
            </a:r>
          </a:p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patients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434840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450799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Cardio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4507992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Isolation forest and personal z scores (unsupervised) plus LightGBM, stacked by logistic regression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2960" y="5001768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822960" y="50749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Explanations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00400" y="5074920"/>
            <a:ext cx="81381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Exact Shapley values over six twin inputs plus TreeSHAP on the residual, in mg/dL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822960" y="556869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glucose forecasting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8</a:t>
            </a:r>
          </a:p>
        </p:txBody>
      </p:sp>
      <p:pic>
        <p:nvPicPr>
          <p:cNvPr id="6" name="Picture 5" descr="glucose_rmse_by_horiz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17320"/>
            <a:ext cx="5432784" cy="35661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040880" y="1719072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RMSE, mg/dL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1719072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120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066544"/>
            <a:ext cx="51206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040880" y="2139696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EHR only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25.8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33.4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47120" y="2139696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35.2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040880" y="2487168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7040880" y="2560320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Twin, calibrated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16.7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27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24.8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47120" y="2560320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29.0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040880" y="2907792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040880" y="2980944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LightGBM 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183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13.7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27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21.6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47120" y="2980944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27.6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040880" y="3328416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040880" y="3401568"/>
            <a:ext cx="22860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Hybrid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12.9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20.2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47120" y="3401568"/>
            <a:ext cx="82296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1" i="0">
                <a:solidFill>
                  <a:srgbClr val="1B1B19"/>
                </a:solidFill>
                <a:latin typeface="IBM Plex Sans"/>
              </a:rPr>
              <a:t>25.2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7040880" y="3749040"/>
            <a:ext cx="51206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7040880" y="4023360"/>
            <a:ext cx="4480560" cy="76009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Hybrid beats both of its parts at every horizon. MARD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60 min 11.1%. Clarke zone A 85.4% at 60 min, zones C to 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2.5%.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7607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6A675F"/>
                </a:solidFill>
                <a:latin typeface="IBM Plex Sans"/>
              </a:rPr>
              <a:t>40 test patients never seen in training or calibration. Scored on days 8 to 30.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alerts and honest uncertainty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9</a:t>
            </a:r>
          </a:p>
        </p:txBody>
      </p:sp>
      <p:pic>
        <p:nvPicPr>
          <p:cNvPr id="6" name="Picture 5" descr="alert_trad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4688546" cy="3429000"/>
          </a:xfrm>
          <a:prstGeom prst="rect">
            <a:avLst/>
          </a:prstGeom>
        </p:spPr>
      </p:pic>
      <p:pic>
        <p:nvPicPr>
          <p:cNvPr id="7" name="Picture 6" descr="conformal_cove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463040"/>
            <a:ext cx="5370571" cy="23317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309360" y="4023360"/>
            <a:ext cx="5303520" cy="137731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Alert tier: 67% of spikes flagged, 85% precision, 0.20 false alarms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   per patient day, median 30 min ahead.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Watch tier: 90% flagged a median 75 min ahead, shown but not pushed.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1B1B19"/>
                </a:solidFill>
                <a:latin typeface="IBM Plex Sans"/>
              </a:rPr>
              <a:t>•  Coverage of the 90% interval: 89.8% to 88.7% across horizons.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EVENT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Results: cardiovascular risk flag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10</a:t>
            </a:r>
          </a:p>
        </p:txBody>
      </p:sp>
      <p:pic>
        <p:nvPicPr>
          <p:cNvPr id="6" name="Picture 5" descr="cardio_perform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1064240" cy="370253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257800"/>
            <a:ext cx="1060704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Ensemble AUROC 0.95 (95% CI 0.90 to 0.99), AUPRC 0.36 at 2.5% prevalence, sensitivity 88% at 90% specificity. At the 95% specificity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operating point 5 of 6 test events were flagged up to 3 days ahead. Only 6 test events, so intervals are wide.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Real CGM traces: what transfers and what does not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11</a:t>
            </a:r>
          </a:p>
        </p:txBody>
      </p:sp>
      <p:pic>
        <p:nvPicPr>
          <p:cNvPr id="6" name="Picture 5" descr="real_data_cgmacr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71600"/>
            <a:ext cx="10599570" cy="3931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40680"/>
            <a:ext cx="10607040" cy="73437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CGMacros (PhysioNet, open access): 45 adults, Dexcom G6, meals with known carbohydrate. Trained only on synthetic data, the hybrid lands near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persistence (36.7 against 38.3 mg/dL at 2 h). Told about meals in advance, the calibrated twin reaches 29.6. Interval coverage recovers from</a:t>
            </a:r>
          </a:p>
          <a:p>
            <a:pPr>
              <a:lnSpc>
                <a:spcPct val="135000"/>
              </a:lnSpc>
            </a:pPr>
            <a:r>
              <a:rPr sz="1250" b="0" i="0">
                <a:solidFill>
                  <a:srgbClr val="4A4843"/>
                </a:solidFill>
                <a:latin typeface="IBM Plex Sans"/>
              </a:rPr>
              <a:t>78% to 88% after per site recalibration.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CASE STUDY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What if: Ramesh, 52, night shift, T2D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12</a:t>
            </a:r>
          </a:p>
        </p:txBody>
      </p:sp>
      <p:pic>
        <p:nvPicPr>
          <p:cNvPr id="6" name="Picture 5" descr="03_whatif_rames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6943725" cy="4443984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863840" y="1463040"/>
            <a:ext cx="3840480" cy="32118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19:45. The hybrid forecast expects dinner at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20:15 and a peak near 278 mg/dL, after three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nights of 4.9 h sleep.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A 15 minute walk after dinner takes 15 mg/dL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off the twin's 6 hour peak. Millets instead of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white rice take 48.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Together: peak 57 mg/dL lower and 40 minutes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less above 180.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•  Moving dinner earlier barely changes the peak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tonight (it can only move to 19:50). The twin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   can say no.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Clinical workflow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13</a:t>
            </a:r>
          </a:p>
        </p:txBody>
      </p:sp>
      <p:pic>
        <p:nvPicPr>
          <p:cNvPr id="6" name="Picture 5" descr="01_w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25880"/>
            <a:ext cx="5486400" cy="351129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pic>
        <p:nvPicPr>
          <p:cNvPr id="7" name="Picture 6" descr="06_note_rames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25880"/>
            <a:ext cx="5191690" cy="3694176"/>
          </a:xfrm>
          <a:prstGeom prst="rect">
            <a:avLst/>
          </a:prstGeom>
          <a:ln w="9525">
            <a:solidFill>
              <a:srgbClr val="D8D3C8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548640" y="5074920"/>
            <a:ext cx="5486400" cy="7086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1. Ward sorted by alerts, with what changed since the last look; acknowledge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and snooze, with an audit trail. 2. Open the twin: forecast band, reasons,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alert log, AGP; tell it about tonight's meal.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5212080"/>
            <a:ext cx="5394960" cy="5029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3. Rank the levers for this patient and share them in English, Hindi or</a:t>
            </a:r>
          </a:p>
          <a:p>
            <a:pPr>
              <a:lnSpc>
                <a:spcPct val="135000"/>
              </a:lnSpc>
            </a:pPr>
            <a:r>
              <a:rPr sz="1200" b="0" i="0">
                <a:solidFill>
                  <a:srgbClr val="4A4843"/>
                </a:solidFill>
                <a:latin typeface="IBM Plex Sans"/>
              </a:rPr>
              <a:t>Tamil. 4. One click SOAP note for the record.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GOVERNANCE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Privacy, safety and limits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00200"/>
            <a:ext cx="5120640" cy="263747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Synthetic data only: no personal data under the DPDP Act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2023 or HIPAA was used.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Each record carries a consent artefact: purpose limited,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time bound, revocable.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Deployment design: on premises inference, no identifiers in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model features, audit log, ABDM consent flow.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•  Decision support only, not a diagnosis. The clinician</a:t>
            </a:r>
          </a:p>
          <a:p>
            <a:pPr>
              <a:lnSpc>
                <a:spcPct val="135000"/>
              </a:lnSpc>
            </a:pPr>
            <a:r>
              <a:rPr sz="1350" b="0" i="0">
                <a:solidFill>
                  <a:srgbClr val="1B1B19"/>
                </a:solidFill>
                <a:latin typeface="IBM Plex Sans"/>
              </a:rPr>
              <a:t>   decides.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6400800" y="1645920"/>
            <a:ext cx="5029200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6400800" y="1783080"/>
            <a:ext cx="5029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0">
                <a:solidFill>
                  <a:srgbClr val="1B1B19"/>
                </a:solidFill>
                <a:latin typeface="IBM Plex Serif"/>
              </a:rPr>
              <a:t>Limitations we state openly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286000"/>
            <a:ext cx="5029200" cy="2097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Synthetic ground truth is still a model; real data will be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harder.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Only 6 cardiovascular events in test patients.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Conformal coverage is approximate with serially correlated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   readings, and lower below 70 mg/dL.</a:t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•  Unlogged meals remain the main source of missed spikes.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73152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 b="0" i="0">
                <a:solidFill>
                  <a:srgbClr val="6A675F"/>
                </a:solidFill>
                <a:latin typeface="IBM Plex San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31520"/>
            <a:ext cx="10515600" cy="53721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2600" b="0" i="0">
                <a:solidFill>
                  <a:srgbClr val="1B1B19"/>
                </a:solidFill>
                <a:latin typeface="IBM Plex Serif"/>
              </a:rPr>
              <a:t>Impact and roadmap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261872"/>
            <a:ext cx="10820095" cy="0"/>
          </a:xfrm>
          <a:prstGeom prst="line">
            <a:avLst/>
          </a:prstGeom>
          <a:ln w="1016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814255" y="6473952"/>
            <a:ext cx="18288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35000"/>
              </a:lnSpc>
            </a:pPr>
            <a:r>
              <a:rPr sz="900" b="0" i="0">
                <a:solidFill>
                  <a:srgbClr val="6A675F"/>
                </a:solidFill>
                <a:latin typeface="IBM Plex Sans"/>
              </a:rPr>
              <a:t>Prativimb   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719072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719072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0" i="0">
                <a:solidFill>
                  <a:srgbClr val="6A675F"/>
                </a:solidFill>
                <a:latin typeface="IBM Plex Sans"/>
              </a:rPr>
              <a:t>Working prototype: data, twin, models, API, dashboard, tests, docs. Reproducible from one seed.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304288"/>
            <a:ext cx="10607040" cy="0"/>
          </a:xfrm>
          <a:prstGeom prst="line">
            <a:avLst/>
          </a:prstGeom>
          <a:ln w="10160">
            <a:solidFill>
              <a:srgbClr val="6A67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3 months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2377440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Retrospective validation on de-identified CGM and EHR data under an ethics approval; Indian food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absorption library.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2962656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35808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6 months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3035808"/>
            <a:ext cx="8321040" cy="5207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Federated learning of the residual model across hospitals; the twin stays per patient, only model updates</a:t>
            </a:r>
          </a:p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move.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621024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3694176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9 months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694176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ABDM integration (health ID, consent manager, FHIR); real device APIs (Libre, Dexcom, Health Connect).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279392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822960" y="4352544"/>
            <a:ext cx="210312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12 months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17520" y="4352544"/>
            <a:ext cx="832104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300" b="0" i="0">
                <a:solidFill>
                  <a:srgbClr val="1B1B19"/>
                </a:solidFill>
                <a:latin typeface="IBM Plex Sans"/>
              </a:rPr>
              <a:t>Prospective pilot in a diabetes clinic with alert burden and time in range as outcomes.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22960" y="4937759"/>
            <a:ext cx="10607040" cy="0"/>
          </a:xfrm>
          <a:prstGeom prst="line">
            <a:avLst/>
          </a:prstGeom>
          <a:ln w="7620">
            <a:solidFill>
              <a:srgbClr val="D8D3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822960" y="5349240"/>
            <a:ext cx="10515600" cy="5715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Impact: fewer hours above range, earlier review of cardiac drift, and conversations about change grounded in the patient's</a:t>
            </a:r>
          </a:p>
          <a:p>
            <a:pPr>
              <a:lnSpc>
                <a:spcPct val="135000"/>
              </a:lnSpc>
            </a:pPr>
            <a:r>
              <a:rPr sz="1400" b="0" i="1">
                <a:solidFill>
                  <a:srgbClr val="1B1B19"/>
                </a:solidFill>
                <a:latin typeface="IBM Plex Serif"/>
              </a:rPr>
              <a:t>own physiology.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989320"/>
            <a:ext cx="10515600" cy="3657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 b="0" i="0">
                <a:solidFill>
                  <a:srgbClr val="4A4843"/>
                </a:solidFill>
                <a:latin typeface="IBM Plex Sans"/>
              </a:rPr>
              <a:t>Code: &lt;public repository URL&gt;.  Demo video: &lt;unlisted YouTube URL&gt;.  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