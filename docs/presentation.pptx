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1017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5400" b="0" i="0">
                <a:solidFill>
                  <a:srgbClr val="1B1B19"/>
                </a:solidFill>
                <a:latin typeface="IBM Plex Serif"/>
              </a:rPr>
              <a:t>Prativimb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058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400" b="0" i="1">
                <a:solidFill>
                  <a:srgbClr val="4A4843"/>
                </a:solidFill>
                <a:latin typeface="IBM Plex Serif"/>
              </a:rPr>
              <a:t>A patient twin that answers what if, not just what next.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337560"/>
            <a:ext cx="10515600" cy="0"/>
          </a:xfrm>
          <a:prstGeom prst="line">
            <a:avLst/>
          </a:prstGeom>
          <a:ln w="12700">
            <a:solidFill>
              <a:srgbClr val="1B1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61188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600" b="0" i="0">
                <a:solidFill>
                  <a:srgbClr val="4A4843"/>
                </a:solidFill>
                <a:latin typeface="IBM Plex Sans"/>
              </a:rPr>
              <a:t>Hybrid digital twin for Type 2 diabetes and cardiovascular risk, built for Indian patients.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 i="0">
                <a:solidFill>
                  <a:srgbClr val="75726B"/>
                </a:solidFill>
                <a:latin typeface="IBM Plex Sans"/>
              </a:rPr>
              <a:t>Happiest Health hackathon. Digital Twin track, Phase 1: prototype and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75726B"/>
                </a:solidFill>
                <a:latin typeface="IBM Plex Sans"/>
              </a:rPr>
              <a:t>&lt;TeamName&gt;, &lt;CollegeName&gt;.  Prativimb is Sanskrit for reflection. All patient data shown is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669280" cy="3383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•  India has about 101 million adults with diabetes and 136</a:t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   million with prediabetes (ICMR-INDIAB, Lancet Diabetes &amp;</a:t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   Endocrinology, 2023).</a:t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•  Most see a doctor every three months. Glucose, sleep and</a:t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   heart rhythm change every five minutes.</a:t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•  CGMs and watches now record that stream, but they show</a:t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   what already happened.</a:t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•  Risk scores say who is at risk. They do not say what to</a:t>
            </a:r>
          </a:p>
          <a:p>
            <a:pPr>
              <a:lnSpc>
                <a:spcPct val="135000"/>
              </a:lnSpc>
            </a:pPr>
            <a:r>
              <a:rPr sz="1600" b="0" i="0">
                <a:solidFill>
                  <a:srgbClr val="1B1B19"/>
                </a:solidFill>
                <a:latin typeface="IBM Plex Sans"/>
              </a:rPr>
              <a:t>   change today, or how sure they 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0" y="1645920"/>
            <a:ext cx="4480560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49440" y="1783080"/>
            <a:ext cx="4480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 i="0">
                <a:solidFill>
                  <a:srgbClr val="1B1B19"/>
                </a:solidFill>
                <a:latin typeface="IBM Plex Serif"/>
              </a:rPr>
              <a:t>What a clinician needs at the bedside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86000"/>
            <a:ext cx="4480560" cy="22517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>•  Which patients will go out of range in the next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>   two hours?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>•  Why, in words, not feature names?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>•  What would help this patient: a walk, a different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>   grain, an earlier dinner?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>•  Who is drifting towards a cardiac event this week?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OUR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Why a twin, and not another classifier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292607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75726B"/>
                </a:solidFill>
                <a:latin typeface="IBM Plex San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10512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75726B"/>
                </a:solidFill>
                <a:latin typeface="IBM Plex Sans"/>
              </a:rPr>
              <a:t>Risk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10512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75726B"/>
                </a:solidFill>
                <a:latin typeface="IBM Plex Sans"/>
              </a:rPr>
              <a:t>Prativimb twin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240280"/>
            <a:ext cx="10698480" cy="0"/>
          </a:xfrm>
          <a:prstGeom prst="line">
            <a:avLst/>
          </a:prstGeom>
          <a:ln w="10160">
            <a:solidFill>
              <a:srgbClr val="75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313432"/>
            <a:ext cx="292607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13432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What happens next?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13432"/>
            <a:ext cx="374904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What happens next, and what if we change</a:t>
            </a:r>
          </a:p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something?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795778"/>
            <a:ext cx="1069848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868930"/>
            <a:ext cx="292607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68930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Learned from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868930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Physiology (ODE) plus a learned residual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298698"/>
            <a:ext cx="1069848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371850"/>
            <a:ext cx="292607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Personal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371850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Population average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371850"/>
            <a:ext cx="374904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Parameters fitted to each patient's first</a:t>
            </a:r>
          </a:p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week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3854196"/>
            <a:ext cx="1069848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3927348"/>
            <a:ext cx="292607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Out of range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927348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Unreliable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27348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Physics extrapolates plausibly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4357116"/>
            <a:ext cx="1069848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4430268"/>
            <a:ext cx="292607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430268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A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430268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Calibrated interval with stated coverage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" y="4860036"/>
            <a:ext cx="1069848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60" y="4933188"/>
            <a:ext cx="292607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Reasons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933188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Feature importances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933188"/>
            <a:ext cx="3749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mg/dL contributions, one plain sentence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" y="5362955"/>
            <a:ext cx="1069848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600" b="0" i="1">
                <a:solidFill>
                  <a:srgbClr val="1B1B19"/>
                </a:solidFill>
                <a:latin typeface="IBM Plex Serif"/>
              </a:rPr>
              <a:t>Prativimb is a reflection of the patient you can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Our approach in four ideas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 i="0">
                <a:solidFill>
                  <a:srgbClr val="1B1B19"/>
                </a:solidFill>
                <a:latin typeface="IBM Plex Serif"/>
              </a:rPr>
              <a:t>1. Hybrid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029200" cy="982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Bergman minimal model extended with meals, exercise, sleep debt,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circadian rhythm, night shifts and metformin. EHR sets the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prior, the first week of wearables fits 8 personal parameters,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LightGBM learns what the physics misses.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0292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 i="0">
                <a:solidFill>
                  <a:srgbClr val="1B1B19"/>
                </a:solidFill>
                <a:latin typeface="IBM Plex Serif"/>
              </a:rPr>
              <a:t>2. Counterfactuals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029200" cy="7600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Re-simulate the next six hours after a walk, a millet swap, a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shifted dinner, a missed dose, more sleep or a night shift.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Shows peak and time above range for both.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50292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 i="0">
                <a:solidFill>
                  <a:srgbClr val="1B1B19"/>
                </a:solidFill>
                <a:latin typeface="IBM Plex Serif"/>
              </a:rPr>
              <a:t>3. Honest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5029200" cy="7600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Conformalised quantile regression gives 90% intervals that reach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89.2% coverage at 60 min on unseen patients. Alerts fire only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when the lower bound crosses 180.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50292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 i="0">
                <a:solidFill>
                  <a:srgbClr val="1B1B19"/>
                </a:solidFill>
                <a:latin typeface="IBM Plex Serif"/>
              </a:rPr>
              <a:t>4. India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97680"/>
            <a:ext cx="5029200" cy="7600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Rice, roti, idli and iftar meals with their absorption speeds;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Ramadan, Shivaratri, Ekadashi and Holi in the calendar; night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shift workers; cardiovascular risk at lower BMI.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5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897488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Data: synthetic, Indian, reproducible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394960" cy="3794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200 fictional patients, 30 days each (14 Feb to 15 Mar 2026):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healthy, prediabetes and T2D; hypertension, dyslipidaemia,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family history.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EHR as FHIR R4 bundles: ICD-10, LOINC, ATC, TCF7L2, KCNQ1,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SLC30A8 and 9p21 markers, DPDP style consent.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Glucose from the UVA/Padova model with simglucose parameters and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Dexcom noise, adapted for T2D. HR every minute, sleep stages,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nightly HRV, steps.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Apple Health and Google Fit export formats, parsed back by our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adapters.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One command regenerates everything in about 20 seconds from seed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20260315.</a:t>
            </a:r>
          </a:p>
        </p:txBody>
      </p:sp>
      <p:pic>
        <p:nvPicPr>
          <p:cNvPr id="7" name="Picture 6" descr="04_twin_fatima_if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195280" cy="4480560"/>
          </a:xfrm>
          <a:prstGeom prst="rect">
            <a:avLst/>
          </a:prstGeom>
          <a:ln w="9525">
            <a:solidFill>
              <a:srgbClr val="D8D3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0" y="6126480"/>
            <a:ext cx="4937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0" i="0">
                <a:solidFill>
                  <a:srgbClr val="75726B"/>
                </a:solidFill>
                <a:latin typeface="IBM Plex Sans"/>
              </a:rPr>
              <a:t>Fatima (synthetic): Ramadan pattern in her glucose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Models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73352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0" i="0">
                <a:solidFill>
                  <a:srgbClr val="75726B"/>
                </a:solidFill>
                <a:latin typeface="IBM Plex Sans"/>
              </a:rP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73352"/>
            <a:ext cx="8138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0" i="0">
                <a:solidFill>
                  <a:srgbClr val="75726B"/>
                </a:solidFill>
                <a:latin typeface="IBM Plex Sans"/>
              </a:rPr>
              <a:t>What it does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167128"/>
            <a:ext cx="10607040" cy="0"/>
          </a:xfrm>
          <a:prstGeom prst="line">
            <a:avLst/>
          </a:prstGeom>
          <a:ln w="10160">
            <a:solidFill>
              <a:srgbClr val="75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240280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Twin 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40280"/>
            <a:ext cx="8138160" cy="504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dG/dt = -(SG + X)G + SG Gb H(t) + cf Ra(t) - eE E G, with insulin action, insulin, two gut compartments,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exercise and metformin states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34056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807208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07208"/>
            <a:ext cx="8138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MAP least squares on days 1 to 7 with EHR priors; about one second per patient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300984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374136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Residual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74136"/>
            <a:ext cx="8138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LightGBM on twin error at 30, 60, 90, 120 min from CGM history, meals, activity, sleep, adherence, EHR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867912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941064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941064"/>
            <a:ext cx="8138160" cy="504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CQR intervals at 90%; the alert tier uses the lower bound of the 50% interval, chosen on calibration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patients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434840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507992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Cardio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507992"/>
            <a:ext cx="8138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Isolation forest and personal z scores (unsupervised) plus LightGBM, stacked by logistic regression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5001768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074920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Explanations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074920"/>
            <a:ext cx="8138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Exact Shapley values over six twin inputs plus TreeSHAP on the residual, in mg/dL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5568696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EVENT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Results: glucose forecasting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8</a:t>
            </a:r>
          </a:p>
        </p:txBody>
      </p:sp>
      <p:pic>
        <p:nvPicPr>
          <p:cNvPr id="6" name="Picture 5" descr="glucose_rmse_by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432784" cy="3566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719072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75726B"/>
                </a:solidFill>
                <a:latin typeface="IBM Plex Sans"/>
              </a:rPr>
              <a:t>RMSE, mg/dL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719072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75726B"/>
                </a:solidFill>
                <a:latin typeface="IBM Plex Sans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719072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75726B"/>
                </a:solidFill>
                <a:latin typeface="IBM Plex Sans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1719072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75726B"/>
                </a:solidFill>
                <a:latin typeface="IBM Plex Sans"/>
              </a:rPr>
              <a:t>120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066544"/>
            <a:ext cx="5120640" cy="0"/>
          </a:xfrm>
          <a:prstGeom prst="line">
            <a:avLst/>
          </a:prstGeom>
          <a:ln w="10160">
            <a:solidFill>
              <a:srgbClr val="75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0880" y="2139696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Twin, EHR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139696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25.8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39696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33.4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2139696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35.2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0" y="2487168"/>
            <a:ext cx="51206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40880" y="2560320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Twin, calibrated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16.7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560320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24.8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2560320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29.0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0880" y="2907792"/>
            <a:ext cx="51206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40880" y="2980944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LightGBM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80944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13.7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980944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21.6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2980944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27.6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3328416"/>
            <a:ext cx="51206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40880" y="3401568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1B1B19"/>
                </a:solidFill>
                <a:latin typeface="IBM Plex Sans"/>
              </a:rPr>
              <a:t>Hybrid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401568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1B1B19"/>
                </a:solidFill>
                <a:latin typeface="IBM Plex Sans"/>
              </a:rPr>
              <a:t>12.9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401568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1B1B19"/>
                </a:solidFill>
                <a:latin typeface="IBM Plex Sans"/>
              </a:rPr>
              <a:t>20.2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3401568"/>
            <a:ext cx="822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1B1B19"/>
                </a:solidFill>
                <a:latin typeface="IBM Plex Sans"/>
              </a:rPr>
              <a:t>25.2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40880" y="3749040"/>
            <a:ext cx="51206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40880" y="4023360"/>
            <a:ext cx="4480560" cy="7600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Hybrid beats both of its parts at every horizon. MARD at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60 min 11.1%. Clarke zone A 85.4% at 60 min, zones C to E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2.5%.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75726B"/>
                </a:solidFill>
                <a:latin typeface="IBM Plex Sans"/>
              </a:rPr>
              <a:t>40 test patients never seen in training or calibration. Scored on days 8 to 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EVENT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Results: alerts and honest uncertainty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9</a:t>
            </a:r>
          </a:p>
        </p:txBody>
      </p:sp>
      <p:pic>
        <p:nvPicPr>
          <p:cNvPr id="6" name="Picture 5" descr="aler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688546" cy="3429000"/>
          </a:xfrm>
          <a:prstGeom prst="rect">
            <a:avLst/>
          </a:prstGeom>
        </p:spPr>
      </p:pic>
      <p:pic>
        <p:nvPicPr>
          <p:cNvPr id="7" name="Picture 6" descr="conformal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70571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023360"/>
            <a:ext cx="5303520" cy="1377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•  Alert tier: 67% of spikes flagged, 85% precision, 0.20 false alarms</a:t>
            </a:r>
          </a:p>
          <a:p>
            <a:pPr>
              <a:lnSpc>
                <a:spcPct val="135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   per patient day, median 30 min ahead.</a:t>
            </a:r>
          </a:p>
          <a:p>
            <a:pPr>
              <a:lnSpc>
                <a:spcPct val="135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•  Watch tier: 90% flagged a median 75 min ahead, shown but not pushed.</a:t>
            </a:r>
          </a:p>
          <a:p>
            <a:pPr>
              <a:lnSpc>
                <a:spcPct val="135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250" b="0" i="0">
                <a:solidFill>
                  <a:srgbClr val="1B1B19"/>
                </a:solidFill>
                <a:latin typeface="IBM Plex Sans"/>
              </a:rPr>
              <a:t>•  Coverage of the 90% interval: 89.8% to 88.7% across horizons.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EVENT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Results: cardiovascular risk flag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10</a:t>
            </a:r>
          </a:p>
        </p:txBody>
      </p:sp>
      <p:pic>
        <p:nvPicPr>
          <p:cNvPr id="6" name="Picture 5" descr="cardio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37025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1060704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Ensemble AUROC 0.95 (95% CI 0.90 to 0.99), AUPRC 0.36 at 2.5% prevalence, sensitivity 88% at 90% specificity. At the 95% specificity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operating point 5 of 6 test events were flagged up to 3 days ahead. Only 6 test events, so intervals are 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What if: Ramesh, 52, night shift, T2D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11</a:t>
            </a:r>
          </a:p>
        </p:txBody>
      </p:sp>
      <p:pic>
        <p:nvPicPr>
          <p:cNvPr id="6" name="Picture 5" descr="03_whatif_ra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943725" cy="4443984"/>
          </a:xfrm>
          <a:prstGeom prst="rect">
            <a:avLst/>
          </a:prstGeom>
          <a:ln w="9525">
            <a:solidFill>
              <a:srgbClr val="D8D3C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863840" y="1463040"/>
            <a:ext cx="3840480" cy="3211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•  19:45. The hybrid forecast expects dinner at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   20:15 and a peak near 278 mg/dL, after three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   nights of 4.9 h sleep.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•  A 15 minute walk after dinner takes 15 mg/dL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   off the twin's 6 hour peak. Millets instead of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   white rice take 48.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•  Together: peak 57 mg/dL lower and 40 minutes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   less above 180.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•  Moving dinner earlier barely changes the peak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   tonight (it can only move to 19:50). The twin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   can say 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Clinical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12</a:t>
            </a:r>
          </a:p>
        </p:txBody>
      </p:sp>
      <p:pic>
        <p:nvPicPr>
          <p:cNvPr id="6" name="Picture 5" descr="01_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86400" cy="3511296"/>
          </a:xfrm>
          <a:prstGeom prst="rect">
            <a:avLst/>
          </a:prstGeom>
          <a:ln w="9525">
            <a:solidFill>
              <a:srgbClr val="D8D3C8"/>
            </a:solidFill>
          </a:ln>
        </p:spPr>
      </p:pic>
      <p:pic>
        <p:nvPicPr>
          <p:cNvPr id="7" name="Picture 6" descr="06_note_ram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178751" cy="3694176"/>
          </a:xfrm>
          <a:prstGeom prst="rect">
            <a:avLst/>
          </a:prstGeom>
          <a:ln w="9525">
            <a:solidFill>
              <a:srgbClr val="D8D3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074920"/>
            <a:ext cx="5486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4A4843"/>
                </a:solidFill>
                <a:latin typeface="IBM Plex Sans"/>
              </a:rPr>
              <a:t>1. Ward list sorted by alerts, cardiovascular flags and forecast peak. 2.</a:t>
            </a:r>
          </a:p>
          <a:p>
            <a:pPr>
              <a:lnSpc>
                <a:spcPct val="135000"/>
              </a:lnSpc>
            </a:pPr>
            <a:r>
              <a:rPr sz="1200" b="0" i="0">
                <a:solidFill>
                  <a:srgbClr val="4A4843"/>
                </a:solidFill>
                <a:latin typeface="IBM Plex Sans"/>
              </a:rPr>
              <a:t>Open the twin: forecast band, reasons, alert log, AGP.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212080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4A4843"/>
                </a:solidFill>
                <a:latin typeface="IBM Plex Sans"/>
              </a:rPr>
              <a:t>3. Try what if with the patient. 4. One click SOAP note, printable or PDF,</a:t>
            </a:r>
          </a:p>
          <a:p>
            <a:pPr>
              <a:lnSpc>
                <a:spcPct val="135000"/>
              </a:lnSpc>
            </a:pPr>
            <a:r>
              <a:rPr sz="1200" b="0" i="0">
                <a:solidFill>
                  <a:srgbClr val="4A4843"/>
                </a:solidFill>
                <a:latin typeface="IBM Plex Sans"/>
              </a:rPr>
              <a:t>for the record.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Privacy, safety and limits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120640" cy="263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Synthetic data only: no personal data under the DPDP Act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2023 or HIPAA was used.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Each record carries a consent artefact: purpose limited,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time bound, revocable.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Deployment design: on premises inference, no identifiers in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model features, audit log, ABDM consent flow.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•  Decision support only, not a diagnosis. The clinician</a:t>
            </a:r>
          </a:p>
          <a:p>
            <a:pPr>
              <a:lnSpc>
                <a:spcPct val="135000"/>
              </a:lnSpc>
            </a:pPr>
            <a:r>
              <a:rPr sz="1350" b="0" i="0">
                <a:solidFill>
                  <a:srgbClr val="1B1B19"/>
                </a:solidFill>
                <a:latin typeface="IBM Plex Sans"/>
              </a:rPr>
              <a:t>   decides.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0" y="1645920"/>
            <a:ext cx="5029200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 i="0">
                <a:solidFill>
                  <a:srgbClr val="1B1B19"/>
                </a:solidFill>
                <a:latin typeface="IBM Plex Serif"/>
              </a:rPr>
              <a:t>Limitations we state openly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029200" cy="2097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•  Synthetic ground truth is still a model; real data will be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   harder.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•  Only 6 cardiovascular events in test patients.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•  Conformal coverage is approximate with serially correlated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   readings, and lower below 70 mg/dL.</a:t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 i="0">
                <a:solidFill>
                  <a:srgbClr val="4A4843"/>
                </a:solidFill>
                <a:latin typeface="IBM Plex Sans"/>
              </a:rPr>
              <a:t>•  Unlogged meals remain the main source of missed spikes.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Impact and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2103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75726B"/>
                </a:solidFill>
                <a:latin typeface="IBM Plex San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19072"/>
            <a:ext cx="8321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75726B"/>
                </a:solidFill>
                <a:latin typeface="IBM Plex Sans"/>
              </a:rPr>
              <a:t>Working prototype: data, twin, models, API, dashboard, tests, docs. Reproducible from one seed.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304288"/>
            <a:ext cx="10607040" cy="0"/>
          </a:xfrm>
          <a:prstGeom prst="line">
            <a:avLst/>
          </a:prstGeom>
          <a:ln w="10160">
            <a:solidFill>
              <a:srgbClr val="75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377440"/>
            <a:ext cx="2103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3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832104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Retrospective validation on de-identified CGM and EHR data under an ethics approval; Indian food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absorption library.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962656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35808"/>
            <a:ext cx="2103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6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035808"/>
            <a:ext cx="832104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Federated learning of the residual model across hospitals; the twin stays per patient, only model updates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move.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621024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694176"/>
            <a:ext cx="2103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9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694176"/>
            <a:ext cx="8321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ABDM integration (health ID, consent manager, FHIR); real device APIs (Libre, Dexcom, Health Connect).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279392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352544"/>
            <a:ext cx="2103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352544"/>
            <a:ext cx="8321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B1B19"/>
                </a:solidFill>
                <a:latin typeface="IBM Plex Sans"/>
              </a:rPr>
              <a:t>Prospective pilot in a diabetes clinic with alert burden and time in range as outcomes.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937759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486400"/>
            <a:ext cx="105156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 i="1">
                <a:solidFill>
                  <a:srgbClr val="1B1B19"/>
                </a:solidFill>
                <a:latin typeface="IBM Plex Serif"/>
              </a:rPr>
              <a:t>Impact: fewer hours above range, earlier review of cardiac drift, and conversations about change grounded in the patient's</a:t>
            </a:r>
          </a:p>
          <a:p>
            <a:pPr>
              <a:lnSpc>
                <a:spcPct val="135000"/>
              </a:lnSpc>
            </a:pPr>
            <a:r>
              <a:rPr sz="1400" b="0" i="1">
                <a:solidFill>
                  <a:srgbClr val="1B1B19"/>
                </a:solidFill>
                <a:latin typeface="IBM Plex Serif"/>
              </a:rPr>
              <a:t>own physiology.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 b="0" i="0">
                <a:solidFill>
                  <a:srgbClr val="75726B"/>
                </a:solidFill>
                <a:latin typeface="IBM Plex Sans"/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37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600" b="0" i="0">
                <a:solidFill>
                  <a:srgbClr val="1B1B19"/>
                </a:solidFill>
                <a:latin typeface="IBM Plex Serif"/>
              </a:rPr>
              <a:t>Team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61872"/>
            <a:ext cx="10820095" cy="0"/>
          </a:xfrm>
          <a:prstGeom prst="line">
            <a:avLst/>
          </a:prstGeom>
          <a:ln w="1016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14255" y="64739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i="0">
                <a:solidFill>
                  <a:srgbClr val="75726B"/>
                </a:solidFill>
                <a:latin typeface="IBM Plex Sans"/>
              </a:rPr>
              <a:t>Prativimb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75726B"/>
                </a:solidFill>
                <a:latin typeface="IBM Plex Sans"/>
              </a:rP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1051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75726B"/>
                </a:solidFill>
                <a:latin typeface="IBM Plex Sans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10512"/>
            <a:ext cx="3931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75726B"/>
                </a:solidFill>
                <a:latin typeface="IBM Plex Sans"/>
              </a:rPr>
              <a:t>Email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286000"/>
            <a:ext cx="10607040" cy="0"/>
          </a:xfrm>
          <a:prstGeom prst="line">
            <a:avLst/>
          </a:prstGeom>
          <a:ln w="10160">
            <a:solidFill>
              <a:srgbClr val="75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35915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&lt;Member 1&gt;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5915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&lt;Role&gt;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359152"/>
            <a:ext cx="3931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&lt;email&gt;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834640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90779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&lt;Member 2&gt;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0779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&lt;Role&gt;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907792"/>
            <a:ext cx="3931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&lt;email&gt;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383280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45643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&lt;Member 3&gt;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5643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&lt;Role&gt;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456432"/>
            <a:ext cx="3931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&lt;email&gt;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3931920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00507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&lt;Member 4&gt;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005072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&lt;Role&gt;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005072"/>
            <a:ext cx="3931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B1B19"/>
                </a:solidFill>
                <a:latin typeface="IBM Plex Sans"/>
              </a:rPr>
              <a:t>&lt;email&gt;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4480559"/>
            <a:ext cx="10607040" cy="0"/>
          </a:xfrm>
          <a:prstGeom prst="line">
            <a:avLst/>
          </a:prstGeom>
          <a:ln w="762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 i="0">
                <a:solidFill>
                  <a:srgbClr val="4A4843"/>
                </a:solidFill>
                <a:latin typeface="IBM Plex Sans"/>
              </a:rPr>
              <a:t>&lt;CollegeName&gt; / &lt;Incubator&gt;.  Code: &lt;public repository URL&gt;.  Demo video: &lt;unlisted YouTube URL&gt;.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10515600" cy="468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200" b="0" i="0">
                <a:solidFill>
                  <a:srgbClr val="1B1B19"/>
                </a:solidFill>
                <a:latin typeface="IBM Plex Serif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